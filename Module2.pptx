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hape 23"/>
          <p:cNvSpPr>
            <a:spLocks noGrp="1"/>
          </p:cNvSpPr>
          <p:nvPr>
            <p:ph type="body" sz="half" idx="13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36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3" name="Title Text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hape 39"/>
          <p:cNvSpPr>
            <a:spLocks noGrp="1"/>
          </p:cNvSpPr>
          <p:nvPr>
            <p:ph type="body" sz="half" idx="13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>
            <a:spLocks noGrp="1"/>
          </p:cNvSpPr>
          <p:nvPr>
            <p:ph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Title Text</a:t>
            </a:r>
          </a:p>
        </p:txBody>
      </p:sp>
      <p:sp>
        <p:nvSpPr>
          <p:cNvPr id="92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4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" name="Shape 55"/>
          <p:cNvSpPr/>
          <p:nvPr/>
        </p:nvSpPr>
        <p:spPr>
          <a:xfrm>
            <a:off x="537899" y="1895175"/>
            <a:ext cx="3953102" cy="137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t>Sprocket Central Pty Ltd</a:t>
            </a:r>
          </a:p>
        </p:txBody>
      </p:sp>
      <p:sp>
        <p:nvSpPr>
          <p:cNvPr id="111" name="Shape 56"/>
          <p:cNvSpPr/>
          <p:nvPr/>
        </p:nvSpPr>
        <p:spPr>
          <a:xfrm>
            <a:off x="537900" y="3315475"/>
            <a:ext cx="5550600" cy="52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Data analytics approach</a:t>
            </a:r>
          </a:p>
        </p:txBody>
      </p:sp>
      <p:pic>
        <p:nvPicPr>
          <p:cNvPr id="112" name="Shape 57" descr="Shap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0" y="1275524"/>
            <a:ext cx="1982300" cy="238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58"/>
          <p:cNvSpPr/>
          <p:nvPr/>
        </p:nvSpPr>
        <p:spPr>
          <a:xfrm>
            <a:off x="537900" y="3666599"/>
            <a:ext cx="6249600" cy="398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[Division Name] - [Engagement Manager], [Senior Consultant], [Junior Consultant]</a:t>
            </a:r>
          </a:p>
        </p:txBody>
      </p:sp>
      <p:sp>
        <p:nvSpPr>
          <p:cNvPr id="114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6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hape 6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118" name="Shape 65"/>
          <p:cNvSpPr/>
          <p:nvPr/>
        </p:nvSpPr>
        <p:spPr>
          <a:xfrm>
            <a:off x="343874" y="1211200"/>
            <a:ext cx="5459402" cy="170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Introduction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Data Exploration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Model Development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Interpretation</a:t>
            </a:r>
          </a:p>
        </p:txBody>
      </p:sp>
      <p:sp>
        <p:nvSpPr>
          <p:cNvPr id="119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70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2" name="Shape 71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123" name="Shape 72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New Customers Analysis</a:t>
            </a:r>
            <a:endParaRPr dirty="0"/>
          </a:p>
        </p:txBody>
      </p:sp>
      <p:sp>
        <p:nvSpPr>
          <p:cNvPr id="124" name="Shape 73"/>
          <p:cNvSpPr/>
          <p:nvPr/>
        </p:nvSpPr>
        <p:spPr>
          <a:xfrm>
            <a:off x="205024" y="2164724"/>
            <a:ext cx="5622752" cy="1754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Look into the below factors in new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Age distributions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Number of bike purchases in 3 years / percentage purchases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Job industry category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Wealth segments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Number of cars own on each states</a:t>
            </a:r>
            <a:endParaRPr dirty="0"/>
          </a:p>
        </p:txBody>
      </p:sp>
      <p:sp>
        <p:nvSpPr>
          <p:cNvPr id="128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Customer’s age distribution</a:t>
            </a:r>
            <a:endParaRPr dirty="0"/>
          </a:p>
        </p:txBody>
      </p:sp>
      <p:sp>
        <p:nvSpPr>
          <p:cNvPr id="133" name="Shape 82"/>
          <p:cNvSpPr/>
          <p:nvPr/>
        </p:nvSpPr>
        <p:spPr>
          <a:xfrm>
            <a:off x="205025" y="2164724"/>
            <a:ext cx="4134600" cy="43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10" name="Picture 9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6DC955DA-0C22-4DE5-8A28-07DFBCE52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296" y="328359"/>
            <a:ext cx="3621967" cy="2328407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B9C957DE-BAE7-4C42-A872-86556EA6C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521" y="3059022"/>
            <a:ext cx="3707570" cy="215011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6BC2BC-D70F-4430-BADD-F94A19BF5193}"/>
              </a:ext>
            </a:extLst>
          </p:cNvPr>
          <p:cNvSpPr/>
          <p:nvPr/>
        </p:nvSpPr>
        <p:spPr>
          <a:xfrm>
            <a:off x="4768123" y="1416438"/>
            <a:ext cx="5245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529E2F5F-8300-4DAC-95EA-738785778966}"/>
              </a:ext>
            </a:extLst>
          </p:cNvPr>
          <p:cNvSpPr txBox="1"/>
          <p:nvPr/>
        </p:nvSpPr>
        <p:spPr>
          <a:xfrm>
            <a:off x="4961407" y="3863533"/>
            <a:ext cx="40711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49C76-8AC6-473E-8A0C-5F9E013253CC}"/>
              </a:ext>
            </a:extLst>
          </p:cNvPr>
          <p:cNvSpPr txBox="1"/>
          <p:nvPr/>
        </p:nvSpPr>
        <p:spPr>
          <a:xfrm>
            <a:off x="402336" y="1724215"/>
            <a:ext cx="4459260" cy="2462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As we can see, mostly our new customers are between 25 to 48 years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/>
              <a:t>Number of customers from 48 to 59 years has big drop on percentages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IN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There is slight increase in number of customers over 59 years in term of percentages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dirty="0"/>
              <a:t>The percentages of under 25 years do not differ much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6" name="Shape 82">
            <a:extLst>
              <a:ext uri="{FF2B5EF4-FFF2-40B4-BE49-F238E27FC236}">
                <a16:creationId xmlns:a16="http://schemas.microsoft.com/office/drawing/2014/main" id="{CB98AFD9-0018-4BA1-8331-84DA7AC0009E}"/>
              </a:ext>
            </a:extLst>
          </p:cNvPr>
          <p:cNvSpPr/>
          <p:nvPr/>
        </p:nvSpPr>
        <p:spPr>
          <a:xfrm>
            <a:off x="5467356" y="2673631"/>
            <a:ext cx="4134600" cy="379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xmlns:lc="http://schemas.openxmlformats.org/drawingml/2006/lockedCanvas" val="1"/>
            </a:ext>
          </a:extLst>
        </p:spPr>
        <p:txBody>
          <a:bodyPr lIns="91424" tIns="91424" rIns="91424" bIns="91424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 Under 25;  q2: 25 to 48;  q3: 48 to 59; q4: Over 59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8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0" name="Shape 89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Model Development</a:t>
            </a:r>
          </a:p>
        </p:txBody>
      </p:sp>
      <p:sp>
        <p:nvSpPr>
          <p:cNvPr id="141" name="Shape 90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Bike purchases last 3 years</a:t>
            </a:r>
            <a:endParaRPr dirty="0"/>
          </a:p>
        </p:txBody>
      </p:sp>
      <p:sp>
        <p:nvSpPr>
          <p:cNvPr id="142" name="Shape 91"/>
          <p:cNvSpPr/>
          <p:nvPr/>
        </p:nvSpPr>
        <p:spPr>
          <a:xfrm>
            <a:off x="205025" y="2164724"/>
            <a:ext cx="4134600" cy="308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According to observations, our new customers are mostly female with total purchase of 25,212 bikes which contributes to 50.6%.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Male contributed to 47.7% purchases with 23,765 bikes.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So we should</a:t>
            </a:r>
            <a:r>
              <a:rPr lang="en-US" i="1" dirty="0"/>
              <a:t> focus on advertise on female customers more.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dirty="0"/>
          </a:p>
        </p:txBody>
      </p:sp>
      <p:sp>
        <p:nvSpPr>
          <p:cNvPr id="146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A0201C0D-751C-44AB-918B-8607D9717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339" y="730616"/>
            <a:ext cx="3321812" cy="2151919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2A7EC77E-E5A4-498C-B1C4-2B12685BC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010" y="2882535"/>
            <a:ext cx="3461366" cy="21537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Job industry category</a:t>
            </a:r>
            <a:endParaRPr dirty="0"/>
          </a:p>
        </p:txBody>
      </p:sp>
      <p:sp>
        <p:nvSpPr>
          <p:cNvPr id="151" name="Shape 100"/>
          <p:cNvSpPr/>
          <p:nvPr/>
        </p:nvSpPr>
        <p:spPr>
          <a:xfrm>
            <a:off x="205025" y="2164724"/>
            <a:ext cx="4134600" cy="2020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Mostly our new customers are from </a:t>
            </a:r>
            <a:r>
              <a:rPr lang="en-US" b="1" dirty="0"/>
              <a:t>Finance </a:t>
            </a:r>
            <a:r>
              <a:rPr lang="en-US" dirty="0"/>
              <a:t>and </a:t>
            </a:r>
            <a:r>
              <a:rPr lang="en-US" b="1" dirty="0"/>
              <a:t>Manufacturing </a:t>
            </a:r>
            <a:r>
              <a:rPr lang="en-US" dirty="0"/>
              <a:t>which occupy the top 2 positions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There is no difference in rest of industries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dirty="0"/>
          </a:p>
        </p:txBody>
      </p:sp>
      <p:sp>
        <p:nvSpPr>
          <p:cNvPr id="155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3ED76EBA-4DB6-4C18-89E2-D014D5DF6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89" y="707137"/>
            <a:ext cx="3677411" cy="2011680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41CF6DBE-E0C6-4178-976B-E1BBD6030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89" y="2861880"/>
            <a:ext cx="3677411" cy="180612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Wealth segments</a:t>
            </a:r>
            <a:endParaRPr dirty="0"/>
          </a:p>
        </p:txBody>
      </p:sp>
      <p:sp>
        <p:nvSpPr>
          <p:cNvPr id="151" name="Shape 100"/>
          <p:cNvSpPr/>
          <p:nvPr/>
        </p:nvSpPr>
        <p:spPr>
          <a:xfrm>
            <a:off x="205025" y="2164724"/>
            <a:ext cx="4134600" cy="1489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all ages Mass customers contribute the highest.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focus should be on Mass customers followed by High Net Customers</a:t>
            </a:r>
            <a:endParaRPr dirty="0"/>
          </a:p>
        </p:txBody>
      </p:sp>
      <p:sp>
        <p:nvSpPr>
          <p:cNvPr id="155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10" name="Picture 9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2041B338-B964-4BED-9008-676AEE14D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361" y="775998"/>
            <a:ext cx="3255264" cy="2049797"/>
          </a:xfrm>
          <a:prstGeom prst="rect">
            <a:avLst/>
          </a:prstGeom>
        </p:spPr>
      </p:pic>
      <p:pic>
        <p:nvPicPr>
          <p:cNvPr id="11" name="Picture 10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0685577D-2781-412F-B673-09E7DD5F7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088" y="2825796"/>
            <a:ext cx="3255264" cy="231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394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Number of cars owned</a:t>
            </a:r>
            <a:endParaRPr dirty="0"/>
          </a:p>
        </p:txBody>
      </p:sp>
      <p:sp>
        <p:nvSpPr>
          <p:cNvPr id="151" name="Shape 100"/>
          <p:cNvSpPr/>
          <p:nvPr/>
        </p:nvSpPr>
        <p:spPr>
          <a:xfrm>
            <a:off x="205025" y="2164724"/>
            <a:ext cx="4134600" cy="2816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major number of customers who do not own cars are from </a:t>
            </a:r>
            <a:r>
              <a:rPr lang="en-US" b="1" dirty="0"/>
              <a:t>NSW </a:t>
            </a:r>
            <a:r>
              <a:rPr lang="en-US" dirty="0"/>
              <a:t>which will be our main concentration.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VIC and QLD has more customers that own car that who don’t but we can try to have something so that those owns car will buy bikes.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b="1" dirty="0"/>
          </a:p>
        </p:txBody>
      </p:sp>
      <p:sp>
        <p:nvSpPr>
          <p:cNvPr id="155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10" name="Picture 9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6E3907F4-7A59-4497-8050-05FEBCB0A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006" y="1157770"/>
            <a:ext cx="4170929" cy="282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6615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06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Shape 107"/>
          <p:cNvSpPr/>
          <p:nvPr/>
        </p:nvSpPr>
        <p:spPr>
          <a:xfrm>
            <a:off x="537899" y="1895175"/>
            <a:ext cx="3953102" cy="77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t>Appendix</a:t>
            </a:r>
          </a:p>
        </p:txBody>
      </p:sp>
      <p:sp>
        <p:nvSpPr>
          <p:cNvPr id="159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1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62" name="Shape 114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Appendix</a:t>
            </a:r>
          </a:p>
        </p:txBody>
      </p:sp>
      <p:sp>
        <p:nvSpPr>
          <p:cNvPr id="163" name="Shape 115"/>
          <p:cNvSpPr/>
          <p:nvPr/>
        </p:nvSpPr>
        <p:spPr>
          <a:xfrm>
            <a:off x="205025" y="1083299"/>
            <a:ext cx="8565600" cy="508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endParaRPr dirty="0"/>
          </a:p>
        </p:txBody>
      </p:sp>
      <p:sp>
        <p:nvSpPr>
          <p:cNvPr id="164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623</Words>
  <Application>Microsoft Office PowerPoint</Application>
  <PresentationFormat>On-screen Show (16:9)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Open Sans</vt:lpstr>
      <vt:lpstr>Open Sans Extrabold</vt:lpstr>
      <vt:lpstr>Open Sans Light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Pravallika Myneni</cp:lastModifiedBy>
  <cp:revision>5</cp:revision>
  <dcterms:modified xsi:type="dcterms:W3CDTF">2020-07-21T20:32:40Z</dcterms:modified>
</cp:coreProperties>
</file>